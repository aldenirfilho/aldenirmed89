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8072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Shape 1"/>
          <p:cNvSpPr/>
          <p:nvPr/>
        </p:nvSpPr>
        <p:spPr>
          <a:xfrm>
            <a:off x="3456432" y="0"/>
            <a:ext cx="36576" cy="5148072"/>
          </a:xfrm>
          <a:prstGeom prst="rect">
            <a:avLst/>
          </a:prstGeom>
          <a:solidFill>
            <a:srgbClr val="3B9D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USG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POCUS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2697480" cy="36576"/>
          </a:xfrm>
          <a:prstGeom prst="rect">
            <a:avLst/>
          </a:prstGeom>
          <a:solidFill>
            <a:srgbClr val="3B9DD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28163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Ultrassonografia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493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 •  UTI  •  Medicina Interna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365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9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PARA RESIDENTES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8686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Clínicos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Práticos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Trials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49040" y="2029968"/>
            <a:ext cx="5029200" cy="27432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2121408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22192" y="21762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BLUE Protocol — Diagnóstico de IRA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21408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21762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eFAST — Trauma e Emergência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660904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22192" y="27157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POCUS Cardíaco — FATE / CAUSE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660904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36792" y="27157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RUSH — Choque Indiferenciado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3200400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22192" y="32552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TVP / VCI / Procedimentos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36792" y="32552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ONSD — Hipertensão Intracraniana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4315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49040" y="462686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16587 CREMEC  |  RQE 11846  |  Mestrado UFC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 DA AULA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Ultrassonografia Point-of-Care — Do Conceito à Beira do Leito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2103120" cy="438912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1161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" y="1179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618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Física, sondas, modos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9736" y="1115568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9736" y="1115568"/>
            <a:ext cx="210312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161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98648" y="1179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PULMÃO / BLUE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51176" y="1618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IRA, PTX, EAP, SDRA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90872" y="1115568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1115568"/>
            <a:ext cx="2103120" cy="4389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1161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9784" y="1179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82312" y="1618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Trauma, hemoperitônio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22008" y="1115568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22008" y="1115568"/>
            <a:ext cx="2103120" cy="438912"/>
          </a:xfrm>
          <a:prstGeom prst="rect">
            <a:avLst/>
          </a:prstGeom>
          <a:solidFill>
            <a:srgbClr val="6B0AC9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161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1179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POCUS CARDÍACO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13448" y="16184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FATE, CAUSE, TEP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779776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779776"/>
            <a:ext cx="2103120" cy="43891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" y="2825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" y="28437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— CHOQUE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2826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PUMP+TANK+PIPES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9736" y="2779776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9736" y="2779776"/>
            <a:ext cx="2103120" cy="438912"/>
          </a:xfrm>
          <a:prstGeom prst="rect">
            <a:avLst/>
          </a:prstGeom>
          <a:solidFill>
            <a:srgbClr val="5C3A00"/>
          </a:solidFill>
          <a:ln/>
        </p:spPr>
      </p:sp>
      <p:sp>
        <p:nvSpPr>
          <p:cNvPr id="32" name="Text 30"/>
          <p:cNvSpPr/>
          <p:nvPr/>
        </p:nvSpPr>
        <p:spPr>
          <a:xfrm>
            <a:off x="2532888" y="2825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898648" y="28437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VASCULARE/TVP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51176" y="32826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VCI, compressão venosa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90872" y="2779776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2779776"/>
            <a:ext cx="2103120" cy="438912"/>
          </a:xfrm>
          <a:prstGeom prst="rect">
            <a:avLst/>
          </a:prstGeom>
          <a:solidFill>
            <a:srgbClr val="1A4D80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2825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29784" y="28437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82312" y="32826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paracentese, torac.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22008" y="2779776"/>
            <a:ext cx="21031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22008" y="2779776"/>
            <a:ext cx="2103120" cy="438912"/>
          </a:xfrm>
          <a:prstGeom prst="rect">
            <a:avLst/>
          </a:prstGeom>
          <a:solidFill>
            <a:srgbClr val="5A0060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825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360920" y="28437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/ ABDOME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13448" y="32826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PIC, AAA, colecistite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 QUE É POCUS?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Ultrasound — Conceito e Diferenças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16052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Ultrassonografia realizada pelo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assistente à beira do leito,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por problema clínico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específico, com objetivo diagnóstico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terapêutico IMEDIATO.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889504"/>
            <a:ext cx="3931920" cy="27432"/>
          </a:xfrm>
          <a:prstGeom prst="rect">
            <a:avLst/>
          </a:prstGeom>
          <a:solidFill>
            <a:srgbClr val="3B9DD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971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ultrassom é o estetoscópio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século XXI"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Daniel Lichtenstein, Chest 2008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 ·  Repetível  ·  Sem radiação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Portátil  ·  Guia procedimentos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42519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78992"/>
            <a:ext cx="73152" cy="786384"/>
          </a:xfrm>
          <a:prstGeom prst="rect">
            <a:avLst/>
          </a:prstGeom>
          <a:solidFill>
            <a:srgbClr val="1A5FA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11338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Phased-Array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133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MHz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Coração, pulmão basal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956816"/>
            <a:ext cx="42519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56816"/>
            <a:ext cx="73152" cy="7863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MHz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Abdome, FAST, vasos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2519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34640"/>
            <a:ext cx="73152" cy="7863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09744" y="28895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8895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MHz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9744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PTX, TVP, acesso vascular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712464"/>
            <a:ext cx="42519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712464"/>
            <a:ext cx="73152" cy="786384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3767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Microconvexa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767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MHz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Pediatria, pré-hospitalar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ARTEFATOS PULMONARES — BASE DIAGNÓSTICA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padrões ultrassonográficos do pulmão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343400" cy="859536"/>
          </a:xfrm>
          <a:prstGeom prst="rect">
            <a:avLst/>
          </a:prstGeom>
          <a:solidFill>
            <a:srgbClr val="D4EFD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54864" cy="859536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1247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Sliding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" y="14081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Pulmão aerado em movimento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64592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Exclui PTX local  (Sn 95%, Sp 94%)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343400" cy="8595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78992"/>
            <a:ext cx="54864" cy="8595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1247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9744" y="14081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Reverberação horizontal equidistante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64592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OU PTX (sem sliding)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2039112"/>
            <a:ext cx="4343400" cy="859536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03911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20848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B (comet tail)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" y="23682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vertical até o fundo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" y="26060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Síndrome intersticial (EAP, SDRA, pneumonia)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039112"/>
            <a:ext cx="4343400" cy="859536"/>
          </a:xfrm>
          <a:prstGeom prst="rect">
            <a:avLst/>
          </a:prstGeom>
          <a:solidFill>
            <a:srgbClr val="D4EFD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039112"/>
            <a:ext cx="54864" cy="859536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20848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Seashore Sign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9744" y="23682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M: granulado abaixo da pleura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26060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LUNG SLIDING PRESENTE = SEM PTX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" y="2999232"/>
            <a:ext cx="4343400" cy="859536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999232"/>
            <a:ext cx="54864" cy="8595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304495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Sign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9184" y="332841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M: só linhas horizontais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" y="356616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AUSÊNCIA SLIDING = PNEUMOTÓRAX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2999232"/>
            <a:ext cx="4343400" cy="859536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999232"/>
            <a:ext cx="54864" cy="85953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04495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Point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09744" y="332841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M: transição seashore↔barcode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356616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PATOGNOMÔNICO de PTX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1168" y="3959352"/>
            <a:ext cx="4343400" cy="859536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" y="3959352"/>
            <a:ext cx="54864" cy="85953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" y="40050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29184" y="42885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Hepatização = tecido sem 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" y="452628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Pneumonia, atelectasia, infarto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81728" y="3959352"/>
            <a:ext cx="4343400" cy="859536"/>
          </a:xfrm>
          <a:prstGeom prst="rect">
            <a:avLst/>
          </a:prstGeom>
          <a:solidFill>
            <a:srgbClr val="CFFAFE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81728" y="3959352"/>
            <a:ext cx="54864" cy="8595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40050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Broncograma dinâmico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809744" y="42885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Pontilhado hiperecoico móvel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9744" y="452628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 (≠ atelectasia)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MODO M — SEASHORE vs BARCODE SIGN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68680"/>
            <a:ext cx="434340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3434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7160" y="3657600"/>
            <a:ext cx="4343400" cy="960120"/>
          </a:xfrm>
          <a:prstGeom prst="rect">
            <a:avLst/>
          </a:prstGeom>
          <a:solidFill>
            <a:srgbClr val="0B3D1A"/>
          </a:solidFill>
          <a:ln/>
        </p:spPr>
      </p:sp>
      <p:sp>
        <p:nvSpPr>
          <p:cNvPr id="7" name="Text 3"/>
          <p:cNvSpPr/>
          <p:nvPr/>
        </p:nvSpPr>
        <p:spPr>
          <a:xfrm>
            <a:off x="228600" y="3703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SEASHORE SIGN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2860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Granulado abaixo da pleura = lung sliding PRESENTE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 Pneumotórax neste 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 95%, Sp 94% — Lichtenstein Chest 2008)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663440" y="3657600"/>
            <a:ext cx="4343400" cy="960120"/>
          </a:xfrm>
          <a:prstGeom prst="rect">
            <a:avLst/>
          </a:prstGeom>
          <a:solidFill>
            <a:srgbClr val="3D0A0A"/>
          </a:solidFill>
          <a:ln/>
        </p:spPr>
      </p:sp>
      <p:sp>
        <p:nvSpPr>
          <p:cNvPr id="10" name="Text 6"/>
          <p:cNvSpPr/>
          <p:nvPr/>
        </p:nvSpPr>
        <p:spPr>
          <a:xfrm>
            <a:off x="4754880" y="3703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BARCODE / STRATOSPHERE SIGN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5488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linhas horizontais = AUSÊNCIA de lung sliding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PNEUMOTÓRAX confirmado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Confirmar: Lung Point (patognomônico)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ROCKET SIGN — LINHAS B (B-LINES)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41248"/>
            <a:ext cx="512064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841248"/>
            <a:ext cx="3566160" cy="960120"/>
          </a:xfrm>
          <a:prstGeom prst="rect">
            <a:avLst/>
          </a:prstGeom>
          <a:solidFill>
            <a:srgbClr val="121A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841248"/>
            <a:ext cx="54864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5522976" y="88696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22976" y="116128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verticais hiperecoicos que nascem na pleura e alcançam o fundo da tela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94960" y="1901952"/>
            <a:ext cx="3566160" cy="960120"/>
          </a:xfrm>
          <a:prstGeom prst="rect">
            <a:avLst/>
          </a:prstGeom>
          <a:solidFill>
            <a:srgbClr val="121A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901952"/>
            <a:ext cx="54864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5522976" y="1947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22976" y="222199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linhas B por espaço intercostal = PATOLÓGICO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2962656"/>
            <a:ext cx="3566160" cy="960120"/>
          </a:xfrm>
          <a:prstGeom prst="rect">
            <a:avLst/>
          </a:prstGeom>
          <a:solidFill>
            <a:srgbClr val="121A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2962656"/>
            <a:ext cx="54864" cy="96012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5" name="Text 12"/>
          <p:cNvSpPr/>
          <p:nvPr/>
        </p:nvSpPr>
        <p:spPr>
          <a:xfrm>
            <a:off x="5522976" y="300837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22976" y="328269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bilateral, SDRA, Pneumonia (unilateral), Fibrose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94960" y="4023360"/>
            <a:ext cx="3566160" cy="960120"/>
          </a:xfrm>
          <a:prstGeom prst="rect">
            <a:avLst/>
          </a:prstGeom>
          <a:solidFill>
            <a:srgbClr val="121A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94960" y="4023360"/>
            <a:ext cx="54864" cy="96012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19" name="Text 16"/>
          <p:cNvSpPr/>
          <p:nvPr/>
        </p:nvSpPr>
        <p:spPr>
          <a:xfrm>
            <a:off x="5522976" y="40690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22976" y="434340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Lichtenstein &amp; Mezière, Chest 2008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 = EAP (Sn 97%, Sp 97%)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37160" y="4114800"/>
            <a:ext cx="5166360" cy="640080"/>
          </a:xfrm>
          <a:prstGeom prst="rect">
            <a:avLst/>
          </a:prstGeom>
          <a:solidFill>
            <a:srgbClr val="001A0A"/>
          </a:solidFill>
          <a:ln/>
        </p:spPr>
      </p:sp>
      <p:sp>
        <p:nvSpPr>
          <p:cNvPr id="22" name="Text 19"/>
          <p:cNvSpPr/>
          <p:nvPr/>
        </p:nvSpPr>
        <p:spPr>
          <a:xfrm>
            <a:off x="228600" y="41696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Protocol — Perfil B bilateral anterior = EAP  |  Lichtenstein Chest 2008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BLUE PROTOCOL — DIAGNÓSTICO DIFERENCIAL IRA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Lichtenstein &amp; Mezière, Chest 2008 — Acurácia 90,5% (n=260)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8346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33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56816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81%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5910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 + sliding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TVP presente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22199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677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45536" y="107899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078992"/>
            <a:ext cx="2834640" cy="438912"/>
          </a:xfrm>
          <a:prstGeom prst="rect">
            <a:avLst/>
          </a:prstGeom>
          <a:solidFill>
            <a:srgbClr val="0B4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36976" y="1133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15910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 + sliding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TVP ausente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36976" y="222199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22677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DPOC / Asma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9904" y="107899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78992"/>
            <a:ext cx="2834640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181344" y="1133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45552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97%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15910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B-lines bilaterais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anteriores difusas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22199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22677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1168" y="286207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2862072"/>
            <a:ext cx="2834640" cy="43891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2916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A/B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56816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3741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unilateral +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contralateral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" y="400507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050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145536" y="286207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2862072"/>
            <a:ext cx="2834640" cy="4389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236976" y="2916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B'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01184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100%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36976" y="33741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B-lines bilaterais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sem lung sliding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36976" y="400507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3310128" y="4050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89904" y="2862072"/>
            <a:ext cx="2834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2862072"/>
            <a:ext cx="2834640" cy="438912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42" name="Text 40"/>
          <p:cNvSpPr/>
          <p:nvPr/>
        </p:nvSpPr>
        <p:spPr>
          <a:xfrm>
            <a:off x="6181344" y="2916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PERFIL 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45552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81344" y="33741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81344" y="4005072"/>
            <a:ext cx="265176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4050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2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CONSOLIDAÇÃO — BRONCOGRAMA AÉREO DINÂMICO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029200" cy="3182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841248"/>
            <a:ext cx="3657600" cy="14173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841248"/>
            <a:ext cx="3657600" cy="347472"/>
          </a:xfrm>
          <a:prstGeom prst="rect">
            <a:avLst/>
          </a:prstGeom>
          <a:solidFill>
            <a:srgbClr val="3D2A00"/>
          </a:solidFill>
          <a:ln/>
        </p:spPr>
      </p:sp>
      <p:sp>
        <p:nvSpPr>
          <p:cNvPr id="7" name="Text 4"/>
          <p:cNvSpPr/>
          <p:nvPr/>
        </p:nvSpPr>
        <p:spPr>
          <a:xfrm>
            <a:off x="5413248" y="886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— ACHADOS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13248" y="124358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Hepatização: padrão ecogênico similar ao fígado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Borda irregular (shred sign)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Broncograma aéreo: pontilhado hiperecoico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Linhas B na periferia da consolidação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03520" y="2331720"/>
            <a:ext cx="3657600" cy="1078992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331720"/>
            <a:ext cx="3657600" cy="347472"/>
          </a:xfrm>
          <a:prstGeom prst="rect">
            <a:avLst/>
          </a:prstGeom>
          <a:solidFill>
            <a:srgbClr val="0B5C2A"/>
          </a:solidFill>
          <a:ln/>
        </p:spPr>
      </p:sp>
      <p:sp>
        <p:nvSpPr>
          <p:cNvPr id="11" name="Text 8"/>
          <p:cNvSpPr/>
          <p:nvPr/>
        </p:nvSpPr>
        <p:spPr>
          <a:xfrm>
            <a:off x="5413248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BRONCOGRAMA DINÂMICO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13248" y="2734056"/>
            <a:ext cx="3456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Movimento do broncograma = PNEUMONIA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Ausência de movimento = atelectasia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 97%, Sp 100% (Gordon CCM 2010)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03520" y="3493008"/>
            <a:ext cx="3657600" cy="8229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3493008"/>
            <a:ext cx="3657600" cy="347472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15" name="Text 12"/>
          <p:cNvSpPr/>
          <p:nvPr/>
        </p:nvSpPr>
        <p:spPr>
          <a:xfrm>
            <a:off x="5413248" y="3538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PROTOCOL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13248" y="389534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 (consolidação anterior) = Pneumonia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B' (B-lines + sem sliding) = Pneumonia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9728" y="4059936"/>
            <a:ext cx="5065776" cy="6400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8" name="Text 15"/>
          <p:cNvSpPr/>
          <p:nvPr/>
        </p:nvSpPr>
        <p:spPr>
          <a:xfrm>
            <a:off x="201168" y="4114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BRONCOGRAMA AÉREO DINÂMICO = PNEUMONIA  |  Gordon CCM 2010  |  BLUE Perfil C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LUS SCORE — QUANTIFICAÇÃO DA VENTILAÇÃO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Zonas Pulmonares | Prediz desmame, recrutabilidade e progressão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103120" cy="2377440"/>
          </a:xfrm>
          <a:prstGeom prst="rect">
            <a:avLst/>
          </a:prstGeom>
          <a:solidFill>
            <a:srgbClr val="D4EFD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103120" cy="50292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A ou &lt;3 B-lines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2377440"/>
            <a:ext cx="1920240" cy="2743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Ventilação normal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4016" y="1078992"/>
            <a:ext cx="2103120" cy="2377440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14016" y="1078992"/>
            <a:ext cx="2103120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1155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71216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05456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B-lines espaçadas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05456" y="2377440"/>
            <a:ext cx="1920240" cy="27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8" name="Text 16"/>
          <p:cNvSpPr/>
          <p:nvPr/>
        </p:nvSpPr>
        <p:spPr>
          <a:xfrm>
            <a:off x="2505456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Síndrome intersticial mod.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1078992"/>
            <a:ext cx="2103120" cy="237744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078992"/>
            <a:ext cx="21031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0016" y="11155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84064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B-lines coalescentes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lung)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2377440"/>
            <a:ext cx="192024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Síndrome intersticial grave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9712" y="1078992"/>
            <a:ext cx="2103120" cy="23774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39712" y="1078992"/>
            <a:ext cx="210312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11155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96912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31152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(hepatização)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31152" y="2377440"/>
            <a:ext cx="192024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Atelectasia / consolidação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" y="3566160"/>
            <a:ext cx="8741664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36210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TOTAL (12 zonas): 0–36 pontos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38953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&gt;17 → Prediz falha desmame VM  (Mongodi Crit Care 2016 — Sn 80%, Sp 83%)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621024"/>
            <a:ext cx="548640" cy="50292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630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92240" y="3858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32320" y="3621024"/>
            <a:ext cx="548640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3630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0" y="3858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72400" y="3621024"/>
            <a:ext cx="54864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3630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14-22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772400" y="3858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412480" y="3621024"/>
            <a:ext cx="54864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3630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12480" y="3858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eFAST — TRAUMA E EMERGÊNCIA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Assessment with Sonography in Trauma  |  Rozycki JACS 1996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1051560"/>
            <a:ext cx="4160520" cy="2633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" y="3749040"/>
            <a:ext cx="4160520" cy="658368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80390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Morrison (+) = Hemoperitônio  |  Instável → Laparotomia IMEDIATA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90288" y="1051560"/>
            <a:ext cx="4352544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0288" y="105156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718304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Hepatorrenal (Morrison)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18304" y="12893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entre fígado e rim 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90288" y="1554480"/>
            <a:ext cx="4352544" cy="429768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0288" y="155448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4718304" y="1581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Esplenorrenal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18304" y="17922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entre baço e rim 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90288" y="2057400"/>
            <a:ext cx="4352544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205740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18304" y="2084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Pelve (transverso + longitudinal)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18304" y="22951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Saco de Douglas / Retzius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90288" y="2560320"/>
            <a:ext cx="4352544" cy="429768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90288" y="256032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Pericárdio (subxifoide)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18304" y="27980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/ Tamponamento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90288" y="3063240"/>
            <a:ext cx="4352544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90288" y="306324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4718304" y="3090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Pleura bilateral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18304" y="330098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Hemotórax — spine sign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90288" y="3566160"/>
            <a:ext cx="4352544" cy="429768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90288" y="3566160"/>
            <a:ext cx="54864" cy="4297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4718304" y="3593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Pulmão anterior (LINEAR)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18304" y="38039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PTX — lung sliding ausente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0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ALGORITMO eFAST — FLUXO DECISIONAL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/ Emergência — Decisão baseada em estabilidade hemodinâmica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07899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1521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hemodinamicamente INSTÁVEL?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572768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792224"/>
            <a:ext cx="475488" cy="47548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179222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18653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livre intra-abdominal / pericárdico?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286000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505456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250545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2578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lung sliding (PTX)?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" y="2999232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218688"/>
            <a:ext cx="475488" cy="475488"/>
          </a:xfrm>
          <a:prstGeom prst="ellipse">
            <a:avLst/>
          </a:prstGeom>
          <a:solidFill>
            <a:srgbClr val="5B2C8D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2186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291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Hemotórax significativo (&gt;500mL)?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6048" y="1051560"/>
            <a:ext cx="4005072" cy="3584448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1051560"/>
            <a:ext cx="4005072" cy="36576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10881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CONDUTAS IMEDIATAS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463040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84064" y="14996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149961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eFAST IMEDIATAMENTE (meta: &lt;2min)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1975104"/>
            <a:ext cx="3840480" cy="43891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2011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Instável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011680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LAPAROTOMIA EMERGÊNCIA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487168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25237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Estável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52374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TC estadiamento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2999232"/>
            <a:ext cx="3840480" cy="43891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30358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Point 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03580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Agulha + Dreno Torácico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3511296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084064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&gt;500mL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354787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Drenagem torácica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4023360"/>
            <a:ext cx="3840480" cy="43891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4059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405993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Repetir 15-30min se instável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56048" y="4645152"/>
            <a:ext cx="4005072" cy="347472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6" name="Text 44"/>
          <p:cNvSpPr/>
          <p:nvPr/>
        </p:nvSpPr>
        <p:spPr>
          <a:xfrm>
            <a:off x="5047488" y="46817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FAST- NÃO exclui lesão — repetir se instável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0A4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TAMPONAMENTO CARDÍACO — POCUS CARDÍACO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047488" cy="3182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85232" y="841248"/>
            <a:ext cx="3730752" cy="1005840"/>
          </a:xfrm>
          <a:prstGeom prst="rect">
            <a:avLst/>
          </a:prstGeom>
          <a:solidFill>
            <a:srgbClr val="1810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85232" y="841248"/>
            <a:ext cx="54864" cy="1005840"/>
          </a:xfrm>
          <a:prstGeom prst="rect">
            <a:avLst/>
          </a:prstGeom>
          <a:solidFill>
            <a:srgbClr val="2D0A40"/>
          </a:solidFill>
          <a:ln/>
        </p:spPr>
      </p:sp>
      <p:sp>
        <p:nvSpPr>
          <p:cNvPr id="7" name="Text 4"/>
          <p:cNvSpPr/>
          <p:nvPr/>
        </p:nvSpPr>
        <p:spPr>
          <a:xfrm>
            <a:off x="5413248" y="8869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13248" y="117043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Derrame pericárdico circunferencial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Colapso diastólico VD/AD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VCI distendida + sem colapso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85232" y="1938528"/>
            <a:ext cx="3730752" cy="1005840"/>
          </a:xfrm>
          <a:prstGeom prst="rect">
            <a:avLst/>
          </a:prstGeom>
          <a:solidFill>
            <a:srgbClr val="1810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85232" y="1938528"/>
            <a:ext cx="54864" cy="10058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5413248" y="19842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13248" y="22677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Pericardiocentese USG-guiada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Subxifoide — agulha 18G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Confirmar agitação SF (ecocontraste)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85232" y="3035808"/>
            <a:ext cx="3730752" cy="1005840"/>
          </a:xfrm>
          <a:prstGeom prst="rect">
            <a:avLst/>
          </a:prstGeom>
          <a:solidFill>
            <a:srgbClr val="18102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85232" y="3035808"/>
            <a:ext cx="54864" cy="1005840"/>
          </a:xfrm>
          <a:prstGeom prst="rect">
            <a:avLst/>
          </a:prstGeom>
          <a:solidFill>
            <a:srgbClr val="0B3D5A"/>
          </a:solidFill>
          <a:ln/>
        </p:spPr>
      </p:sp>
      <p:sp>
        <p:nvSpPr>
          <p:cNvPr id="15" name="Text 12"/>
          <p:cNvSpPr/>
          <p:nvPr/>
        </p:nvSpPr>
        <p:spPr>
          <a:xfrm>
            <a:off x="5413248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13248" y="33649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Pepi J Am Soc Echo 2010: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sucesso, &lt;1% complicação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guiado = padrão ouro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9728" y="4078224"/>
            <a:ext cx="5084064" cy="658368"/>
          </a:xfrm>
          <a:prstGeom prst="rect">
            <a:avLst/>
          </a:prstGeom>
          <a:solidFill>
            <a:srgbClr val="1A0030"/>
          </a:solidFill>
          <a:ln/>
        </p:spPr>
      </p:sp>
      <p:sp>
        <p:nvSpPr>
          <p:cNvPr id="18" name="Text 15"/>
          <p:cNvSpPr/>
          <p:nvPr/>
        </p:nvSpPr>
        <p:spPr>
          <a:xfrm>
            <a:off x="201168" y="413308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DIASTÓLICO VD + DERRAME &gt;2cm = TAMPONAMENTO → PERICARDIOCENTESE IMEDIATA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A0A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McCONNELL SIGN — TEP AGUDO MACIÇO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85232" y="841248"/>
            <a:ext cx="3730752" cy="1024128"/>
          </a:xfrm>
          <a:prstGeom prst="rect">
            <a:avLst/>
          </a:prstGeom>
          <a:solidFill>
            <a:srgbClr val="18082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85232" y="841248"/>
            <a:ext cx="54864" cy="1024128"/>
          </a:xfrm>
          <a:prstGeom prst="rect">
            <a:avLst/>
          </a:prstGeom>
          <a:solidFill>
            <a:srgbClr val="8B0099"/>
          </a:solidFill>
          <a:ln/>
        </p:spPr>
      </p:sp>
      <p:sp>
        <p:nvSpPr>
          <p:cNvPr id="7" name="Text 4"/>
          <p:cNvSpPr/>
          <p:nvPr/>
        </p:nvSpPr>
        <p:spPr>
          <a:xfrm>
            <a:off x="5413248" y="886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McCONNELL SIGN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 94%)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13248" y="12252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Acinesia parede livre VD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Ápice VD hiperdinâmico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Patognomônico de TEP agudo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85232" y="1956816"/>
            <a:ext cx="3730752" cy="1024128"/>
          </a:xfrm>
          <a:prstGeom prst="rect">
            <a:avLst/>
          </a:prstGeom>
          <a:solidFill>
            <a:srgbClr val="18082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85232" y="1956816"/>
            <a:ext cx="54864" cy="1024128"/>
          </a:xfrm>
          <a:prstGeom prst="rect">
            <a:avLst/>
          </a:prstGeom>
          <a:solidFill>
            <a:srgbClr val="660080"/>
          </a:solidFill>
          <a:ln/>
        </p:spPr>
      </p:sp>
      <p:sp>
        <p:nvSpPr>
          <p:cNvPr id="11" name="Text 8"/>
          <p:cNvSpPr/>
          <p:nvPr/>
        </p:nvSpPr>
        <p:spPr>
          <a:xfrm>
            <a:off x="5413248" y="20025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ACHADOS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13248" y="23408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Razão VD/VE &gt; 0.6 (A4C)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Septo em D (PSAX)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VCI distendida + sem colapso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85232" y="3072384"/>
            <a:ext cx="3730752" cy="1024128"/>
          </a:xfrm>
          <a:prstGeom prst="rect">
            <a:avLst/>
          </a:prstGeom>
          <a:solidFill>
            <a:srgbClr val="18082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85232" y="3072384"/>
            <a:ext cx="54864" cy="1024128"/>
          </a:xfrm>
          <a:prstGeom prst="rect">
            <a:avLst/>
          </a:prstGeom>
          <a:solidFill>
            <a:srgbClr val="4A0060"/>
          </a:solidFill>
          <a:ln/>
        </p:spPr>
      </p:sp>
      <p:sp>
        <p:nvSpPr>
          <p:cNvPr id="15" name="Text 12"/>
          <p:cNvSpPr/>
          <p:nvPr/>
        </p:nvSpPr>
        <p:spPr>
          <a:xfrm>
            <a:off x="5413248" y="31181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13248" y="34564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Fibrinólise: Alteplase 100mg IV 2h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Embolectomia cirúrgica / trombólise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McConnell 1996 NEJM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9728" y="4078224"/>
            <a:ext cx="5074920" cy="658368"/>
          </a:xfrm>
          <a:prstGeom prst="rect">
            <a:avLst/>
          </a:prstGeom>
          <a:solidFill>
            <a:srgbClr val="1C0030"/>
          </a:solidFill>
          <a:ln/>
        </p:spPr>
      </p:sp>
      <p:sp>
        <p:nvSpPr>
          <p:cNvPr id="18" name="Text 15"/>
          <p:cNvSpPr/>
          <p:nvPr/>
        </p:nvSpPr>
        <p:spPr>
          <a:xfrm>
            <a:off x="201168" y="41330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VD/VE&gt;0.6 + McCONNELL + SEPTO D + VCI DISTEND. = TEP MACIÇO  |  McConnell NEJM 1996: Sp 94%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20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EPSS — FUNÇÃO SISTÓLICA DO VE (MODO M)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0749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841248"/>
            <a:ext cx="3703320" cy="1005840"/>
          </a:xfrm>
          <a:prstGeom prst="rect">
            <a:avLst/>
          </a:prstGeom>
          <a:solidFill>
            <a:srgbClr val="0A182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841248"/>
            <a:ext cx="73152" cy="100584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7" name="Text 4"/>
          <p:cNvSpPr/>
          <p:nvPr/>
        </p:nvSpPr>
        <p:spPr>
          <a:xfrm>
            <a:off x="5449824" y="8961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&lt;7mm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49824" y="126187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&gt; 55%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preservada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1956816"/>
            <a:ext cx="3703320" cy="1005840"/>
          </a:xfrm>
          <a:prstGeom prst="rect">
            <a:avLst/>
          </a:prstGeom>
          <a:solidFill>
            <a:srgbClr val="0A182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1956816"/>
            <a:ext cx="73152" cy="10058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" name="Text 8"/>
          <p:cNvSpPr/>
          <p:nvPr/>
        </p:nvSpPr>
        <p:spPr>
          <a:xfrm>
            <a:off x="5449824" y="2011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7-10mm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49824" y="237744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intermediária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(40–55%)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3072384"/>
            <a:ext cx="3703320" cy="1005840"/>
          </a:xfrm>
          <a:prstGeom prst="rect">
            <a:avLst/>
          </a:prstGeom>
          <a:solidFill>
            <a:srgbClr val="0A182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3072384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5449824" y="31272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&gt;10mm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49824" y="349300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&lt; 30%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Disfunção grave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03520" y="3383280"/>
            <a:ext cx="3703320" cy="658368"/>
          </a:xfrm>
          <a:prstGeom prst="rect">
            <a:avLst/>
          </a:prstGeom>
          <a:solidFill>
            <a:srgbClr val="0A2840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3429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PLAX — Modo M pelo folheto anterior da valva mitral — sem necessidade de cálculo de Teicholz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9728" y="4078224"/>
            <a:ext cx="5074920" cy="658368"/>
          </a:xfrm>
          <a:prstGeom prst="rect">
            <a:avLst/>
          </a:prstGeom>
          <a:solidFill>
            <a:srgbClr val="081830"/>
          </a:solidFill>
          <a:ln/>
        </p:spPr>
      </p:sp>
      <p:sp>
        <p:nvSpPr>
          <p:cNvPr id="20" name="Text 17"/>
          <p:cNvSpPr/>
          <p:nvPr/>
        </p:nvSpPr>
        <p:spPr>
          <a:xfrm>
            <a:off x="201168" y="41330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= distância entre E-point da VM e septo interventricular  |  Massie 1976  |  Simples e rápido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PROTOCOLO FATE — 4 PERGUNTAS EM &lt;5 MIN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et al., Anesth Analg 2004 — Alterou manejo em 53% dos casos de UTI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8741664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344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170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derrame pericárdico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tamponamento?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207008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704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Subxifoide / PLAX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+ colapso VD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207008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25296"/>
            <a:ext cx="246888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280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Pericardiocentese USG-guiada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1975104"/>
            <a:ext cx="8741664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130552"/>
            <a:ext cx="475488" cy="475488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84" y="20665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Contratilidade VE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preservada?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103120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06654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PLAX + A4C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&lt;7mm = OK | &gt;10mm = disfunção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121408"/>
            <a:ext cx="246888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Inotrópico + avaliar causa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1168" y="2871216"/>
            <a:ext cx="8741664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26664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" y="296265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está dilatado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(razão VD/VE &gt;0.6)?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2999232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9626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A4C: VD &gt; VE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McConnell? Septo em D?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999232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17520"/>
            <a:ext cx="246888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0723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TEP / HTAP → Investigar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01168" y="3767328"/>
            <a:ext cx="8741664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3922776"/>
            <a:ext cx="475488" cy="47548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201168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6384" y="3858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dilatada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(hipervolemia)?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9000" y="3895344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8587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Subxifoide VCI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&gt;2.1cm + colapso &lt;50%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895344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913632"/>
            <a:ext cx="246888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382512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Cuidado com volume extra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RUSH PROTOCOL — PUMP + TANK + PIPES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Perera et al., Emerg Med Clin N Am 2010  |  Seif et al., W J Emerg Med 2012: 87% precisão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852928" cy="3584448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852928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111556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PUMP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(BOMBA)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" y="17373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2066544"/>
            <a:ext cx="26334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Tamponamento → Pericardiocentese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 reduzida → Inotrópico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VD dilatado/McConnell → TEP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Hiperdinâmico → Distributivo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078992"/>
            <a:ext cx="2852928" cy="3584448"/>
          </a:xfrm>
          <a:prstGeom prst="rect">
            <a:avLst/>
          </a:prstGeom>
          <a:solidFill>
            <a:srgbClr val="D4EFD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078992"/>
            <a:ext cx="2852928" cy="62179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1556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TANK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(TANQUE)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Volemia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066544"/>
            <a:ext cx="26334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VCI colabada → Hipovolemia → Volume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VCI distendida → Congestão → Cuidado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PTX bilateral → Obstrutivo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Linhas B → EAP → Diurético/VNI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078992"/>
            <a:ext cx="2852928" cy="3584448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78992"/>
            <a:ext cx="2852928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11556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PIPES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(VASOS)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72784" y="17373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vasos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2784" y="2066544"/>
            <a:ext cx="26334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Aorta &gt;3cm → AAA → Cirurgia urgente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Flap intimal → Dissecção → TC urgente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TVP femoral → TEP → Anticoagulação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CHOQUE — DIAGNÓSTICO DIFERENCIAL PELO POCUS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POCUS + VCI + Conduta imediata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54864" cy="84124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1155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(Séptico)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56816" y="1115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hiperdinâmico, FE alta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73552" y="1115568"/>
            <a:ext cx="566928" cy="329184"/>
          </a:xfrm>
          <a:prstGeom prst="rect">
            <a:avLst/>
          </a:prstGeom>
          <a:solidFill>
            <a:srgbClr val="D4EFD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33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Noradrenalina + fluidos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1078992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78992"/>
            <a:ext cx="54864" cy="8412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11155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Cardiogênico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37376" y="1115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reduzida, VE dilatado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B bilaterais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54112" y="1115568"/>
            <a:ext cx="566928" cy="329184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133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Distendida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9744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Dobutamina + diurético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" y="2011680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2011680"/>
            <a:ext cx="54864" cy="84124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20482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Hipovolêmico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56816" y="20482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Kissing walls, VE pequeno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positivo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2048256"/>
            <a:ext cx="566928" cy="329184"/>
          </a:xfrm>
          <a:prstGeom prst="rect">
            <a:avLst/>
          </a:prstGeom>
          <a:solidFill>
            <a:srgbClr val="D4EFDF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2066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Colabada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" y="25237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Volume + hemostasia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011680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011680"/>
            <a:ext cx="54864" cy="841248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28" name="Text 26"/>
          <p:cNvSpPr/>
          <p:nvPr/>
        </p:nvSpPr>
        <p:spPr>
          <a:xfrm>
            <a:off x="4809744" y="20482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Obstr. Tamponamento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37376" y="20482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pericárdico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colapso VD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54112" y="2048256"/>
            <a:ext cx="566928" cy="329184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2066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Distendida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9744" y="25237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Pericardiocentese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" y="2944368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" y="2944368"/>
            <a:ext cx="54864" cy="8412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" y="29809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Obstr. PTX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956816" y="2980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sliding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VD/VCI distendidos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73552" y="2980944"/>
            <a:ext cx="566928" cy="329184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Distendida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9184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Agulha + dreno 28Fr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2944368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81728" y="2944368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9809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Obstr. TEP Maciço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37376" y="2980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dilatado + McConnell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septo em 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54112" y="2980944"/>
            <a:ext cx="566928" cy="329184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Distendida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09744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Fibrinólise Alteplase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1168" y="3877056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" y="3877056"/>
            <a:ext cx="54864" cy="8412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329184" y="39136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Obstr. AAA Roto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956816" y="3913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&gt;3cm + líquido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retroperitoneal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73552" y="3913632"/>
            <a:ext cx="566928" cy="329184"/>
          </a:xfrm>
          <a:prstGeom prst="rect">
            <a:avLst/>
          </a:prstGeom>
          <a:solidFill>
            <a:srgbClr val="D4EFDF"/>
          </a:solidFill>
          <a:ln/>
        </p:spPr>
      </p:sp>
      <p:sp>
        <p:nvSpPr>
          <p:cNvPr id="52" name="Text 50"/>
          <p:cNvSpPr/>
          <p:nvPr/>
        </p:nvSpPr>
        <p:spPr>
          <a:xfrm>
            <a:off x="329184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Colabada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184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Cirurgia vascular URGENTE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81728" y="3877056"/>
            <a:ext cx="4315968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81728" y="3877056"/>
            <a:ext cx="54864" cy="8412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6" name="Text 54"/>
          <p:cNvSpPr/>
          <p:nvPr/>
        </p:nvSpPr>
        <p:spPr>
          <a:xfrm>
            <a:off x="4809744" y="39136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Anafilático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37376" y="3913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hiperdinâmico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derrame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4112" y="3913632"/>
            <a:ext cx="566928" cy="329184"/>
          </a:xfrm>
          <a:prstGeom prst="rect">
            <a:avLst/>
          </a:prstGeom>
          <a:solidFill>
            <a:srgbClr val="D4EFDF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Colabada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09744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Adrenalina 0.3mg IM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Text 60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2A1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VCI — AVALIAÇÃO DE VOLEMIA E RESPONSIVIDADE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8924544" cy="3364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" y="4251960"/>
            <a:ext cx="4343400" cy="475488"/>
          </a:xfrm>
          <a:prstGeom prst="rect">
            <a:avLst/>
          </a:prstGeom>
          <a:solidFill>
            <a:srgbClr val="0B3D1A"/>
          </a:solidFill>
          <a:ln/>
        </p:spPr>
      </p:sp>
      <p:sp>
        <p:nvSpPr>
          <p:cNvPr id="6" name="Text 3"/>
          <p:cNvSpPr/>
          <p:nvPr/>
        </p:nvSpPr>
        <p:spPr>
          <a:xfrm>
            <a:off x="201168" y="428853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&lt;1.5cm + colapso &gt;50% → HIPOVOLEMIA → Volume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81728" y="4251960"/>
            <a:ext cx="4343400" cy="475488"/>
          </a:xfrm>
          <a:prstGeom prst="rect">
            <a:avLst/>
          </a:prstGeom>
          <a:solidFill>
            <a:srgbClr val="3D0A0A"/>
          </a:solidFill>
          <a:ln/>
        </p:spPr>
      </p:sp>
      <p:sp>
        <p:nvSpPr>
          <p:cNvPr id="8" name="Text 5"/>
          <p:cNvSpPr/>
          <p:nvPr/>
        </p:nvSpPr>
        <p:spPr>
          <a:xfrm>
            <a:off x="4773168" y="428853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&gt;2.1cm + colapso &lt;50% → CONGESTÃO → Cuidado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280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TVP — COMPRESSÃO VENOSA EM 2 PONTOS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577840" cy="35295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841248"/>
            <a:ext cx="3182112" cy="1078992"/>
          </a:xfrm>
          <a:prstGeom prst="rect">
            <a:avLst/>
          </a:prstGeom>
          <a:solidFill>
            <a:srgbClr val="0D1A0E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41248"/>
            <a:ext cx="54864" cy="107899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7" name="Text 4"/>
          <p:cNvSpPr/>
          <p:nvPr/>
        </p:nvSpPr>
        <p:spPr>
          <a:xfrm>
            <a:off x="5980176" y="886968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0176" y="1115568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Veia Femoral Comum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0176" y="1371600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 de Scarpa — abaixo lig. inguinal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medial à AF — vista TRANSVERSA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011680"/>
            <a:ext cx="3182112" cy="1078992"/>
          </a:xfrm>
          <a:prstGeom prst="rect">
            <a:avLst/>
          </a:prstGeom>
          <a:solidFill>
            <a:srgbClr val="0D1A0E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011680"/>
            <a:ext cx="54864" cy="10789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5980176" y="2057400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0176" y="2286000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Veia Poplítea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980176" y="2542032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Fossa poplítea — joelho 20-30° flexão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Veia superficial à artéria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182112"/>
            <a:ext cx="3182112" cy="1078992"/>
          </a:xfrm>
          <a:prstGeom prst="rect">
            <a:avLst/>
          </a:prstGeom>
          <a:solidFill>
            <a:srgbClr val="0D1A0E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182112"/>
            <a:ext cx="54864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5980176" y="3227832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0176" y="345643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Incompressível = TVP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80176" y="3712464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95%, Especificidade 96%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 Ann Emerg Med 2020 (n=2379)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9728" y="4416552"/>
            <a:ext cx="5614416" cy="320040"/>
          </a:xfrm>
          <a:prstGeom prst="rect">
            <a:avLst/>
          </a:prstGeom>
          <a:solidFill>
            <a:srgbClr val="0A2C0C"/>
          </a:solidFill>
          <a:ln/>
        </p:spPr>
      </p:sp>
      <p:sp>
        <p:nvSpPr>
          <p:cNvPr id="21" name="Text 18"/>
          <p:cNvSpPr/>
          <p:nvPr/>
        </p:nvSpPr>
        <p:spPr>
          <a:xfrm>
            <a:off x="201168" y="44439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C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Veia NÃO colapsa = trombo intraluminal = TVP  |  Bhatt 2020: Sn 95%, Sp 96%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ONSD — HIPERTENSÃO INTRACRANIANA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" y="841248"/>
            <a:ext cx="5102352" cy="3218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40096" y="841248"/>
            <a:ext cx="3639312" cy="594360"/>
          </a:xfrm>
          <a:prstGeom prst="rect">
            <a:avLst/>
          </a:prstGeom>
          <a:solidFill>
            <a:srgbClr val="1A1A0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40096" y="841248"/>
            <a:ext cx="54864" cy="5943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7" name="Text 4"/>
          <p:cNvSpPr/>
          <p:nvPr/>
        </p:nvSpPr>
        <p:spPr>
          <a:xfrm>
            <a:off x="5468112" y="868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68112" y="10789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12MHz sobre pálpebra FECHADA (gel, sem pressão)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axial — nervo óptico hipoecoico posterior ao globo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40096" y="1508760"/>
            <a:ext cx="3639312" cy="594360"/>
          </a:xfrm>
          <a:prstGeom prst="rect">
            <a:avLst/>
          </a:prstGeom>
          <a:solidFill>
            <a:srgbClr val="1A3A0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40096" y="1508760"/>
            <a:ext cx="54864" cy="5943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" name="Text 8"/>
          <p:cNvSpPr/>
          <p:nvPr/>
        </p:nvSpPr>
        <p:spPr>
          <a:xfrm>
            <a:off x="5468112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68112" y="174650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3mm posterior ao globo — eixo transverso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medidas por olho → média bilateral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40096" y="2176272"/>
            <a:ext cx="3639312" cy="594360"/>
          </a:xfrm>
          <a:prstGeom prst="rect">
            <a:avLst/>
          </a:prstGeom>
          <a:solidFill>
            <a:srgbClr val="0B3D1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0096" y="2176272"/>
            <a:ext cx="54864" cy="59436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5" name="Text 12"/>
          <p:cNvSpPr/>
          <p:nvPr/>
        </p:nvSpPr>
        <p:spPr>
          <a:xfrm>
            <a:off x="5468112" y="2203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68112" y="241401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≤ 5.0mm (adulto)  |  PIC provável &lt;20mmHg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40096" y="2843784"/>
            <a:ext cx="3639312" cy="594360"/>
          </a:xfrm>
          <a:prstGeom prst="rect">
            <a:avLst/>
          </a:prstGeom>
          <a:solidFill>
            <a:srgbClr val="3D000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0096" y="2843784"/>
            <a:ext cx="54864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5468112" y="2871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68112" y="308152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&gt; 5.8mm → PIC provável &gt;20mmHg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90%, Sp 85%  |  Dubourg ICM 2011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40096" y="3511296"/>
            <a:ext cx="3639312" cy="594360"/>
          </a:xfrm>
          <a:prstGeom prst="rect">
            <a:avLst/>
          </a:prstGeom>
          <a:solidFill>
            <a:srgbClr val="3D220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40096" y="3511296"/>
            <a:ext cx="54864" cy="5943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Text 20"/>
          <p:cNvSpPr/>
          <p:nvPr/>
        </p:nvSpPr>
        <p:spPr>
          <a:xfrm>
            <a:off x="5468112" y="3538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68112" y="374904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Manitol 1g/kg IV  +  NaCl 3%  +  TC urgente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CONTRAINDICADA  |  Neurocirurgia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9728" y="4078224"/>
            <a:ext cx="5120640" cy="658368"/>
          </a:xfrm>
          <a:prstGeom prst="rect">
            <a:avLst/>
          </a:prstGeom>
          <a:solidFill>
            <a:srgbClr val="1A1A00"/>
          </a:solidFill>
          <a:ln/>
        </p:spPr>
      </p:sp>
      <p:sp>
        <p:nvSpPr>
          <p:cNvPr id="26" name="Text 23"/>
          <p:cNvSpPr/>
          <p:nvPr/>
        </p:nvSpPr>
        <p:spPr>
          <a:xfrm>
            <a:off x="201168" y="4133088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&gt;5.8mm = PIC &gt;20mmHg  |  Dubourg ICM 2011: Sn 90%, Sp 85%  |  Medir 3mm posterior ao globo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USG ABDOMINAL — AAA / COLECISTITE / RINS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Pipes + Diagnóstico abdominal na emergência e UTI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1051560"/>
            <a:ext cx="2834640" cy="1783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1051560"/>
            <a:ext cx="2834640" cy="17830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4768" y="1051560"/>
            <a:ext cx="2834640" cy="17830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64592" y="2907792"/>
            <a:ext cx="28346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164592" y="2907792"/>
            <a:ext cx="28346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5"/>
          <p:cNvSpPr/>
          <p:nvPr/>
        </p:nvSpPr>
        <p:spPr>
          <a:xfrm>
            <a:off x="256032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56032" y="3328416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&gt;3cm = risco ruptura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&gt;5.5cm → cirurgia eletiva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+ líquido = EMERGÊNCIA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154680" y="2907792"/>
            <a:ext cx="28346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154680" y="2907792"/>
            <a:ext cx="2834640" cy="36576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4" name="Text 9"/>
          <p:cNvSpPr/>
          <p:nvPr/>
        </p:nvSpPr>
        <p:spPr>
          <a:xfrm>
            <a:off x="3246120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COLECISTITE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246120" y="3328416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 &gt;4mm + cálculo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Murphy sonográfico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pericolecístico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44768" y="2907792"/>
            <a:ext cx="28346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44768" y="2907792"/>
            <a:ext cx="28346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3"/>
          <p:cNvSpPr/>
          <p:nvPr/>
        </p:nvSpPr>
        <p:spPr>
          <a:xfrm>
            <a:off x="6236208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HIDRONEFROSE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36208" y="3328416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coletor dilatado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(&lt;15mm) / Mod / Grave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Doppler &gt;0.70 = obstrução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6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PROCEDIMENTOS GUIADOS POR USG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comprovada de complicações — Padrão NICE nível 1A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1031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10312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Jugular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81051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7-15MHz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out-of-plane (iniciantes)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in-plane (avançados)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633472"/>
            <a:ext cx="1920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complicações 57%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Guidelines 2002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Randolph CCM 1996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14016" y="1078992"/>
            <a:ext cx="21031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14016" y="1078992"/>
            <a:ext cx="2103120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Toracocentese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05456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05456" y="181051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Convexa posterior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sign confirmado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ACIMA da costela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2633472"/>
            <a:ext cx="1920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05456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PTX iatrogênico 18%→3%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Chest 2010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98%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1078992"/>
            <a:ext cx="21031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078992"/>
            <a:ext cx="2103120" cy="47548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Paracentese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181051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Convexa subumbilical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alças intestinais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profundidade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2633472"/>
            <a:ext cx="1920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Complic. 22%→3%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Nazeer Emerg Med J 2005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96%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39712" y="1078992"/>
            <a:ext cx="21031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39712" y="1078992"/>
            <a:ext cx="2103120" cy="47548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931152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31152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31152" y="181051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Subxifoide — maior coleção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Agulha guiada tempo real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Confirmar: agitação SF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31152" y="2633472"/>
            <a:ext cx="1920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31152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sucesso &lt;1% complic.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Pepi J Am Soc Echo 2010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atual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PRINCIPAIS TRIALS — EVIDENCE-BASED POCUS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científicos do POCUS na Emergência e UTI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051560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051560"/>
            <a:ext cx="54864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" y="10881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Lichtenstein &amp; Mezière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2008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" y="14356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Protocol  n=260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5176" y="167335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Acurácia 90,5% diagnóstico IRA aguda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1051560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1051560"/>
            <a:ext cx="54864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0881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Rozycki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JACS 1996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64408" y="14356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Trauma  n=1000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64408" y="167335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 83%, Sp 99% hemoperitônio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1051560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051560"/>
            <a:ext cx="54864" cy="109728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0881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McConnell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NEJM 1996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4356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McConnell Sign TEP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167335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 94% para TEP agudo — padrão-ouro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" y="2258568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" y="2258568"/>
            <a:ext cx="54864" cy="109728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" y="22951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Anesth Analg 2004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" y="264261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Protocol  n=452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176" y="288036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Alterou manejo em 53% UTI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36392" y="2258568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2258568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2951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Emerg Med 2020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4408" y="264261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 compressão n=2379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288036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 95%, Sp 96% para TVP proximal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35624" y="2258568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2258568"/>
            <a:ext cx="54864" cy="109728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2951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Dubourg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2011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64261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PIC  n=6 estudos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88036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 90%, Sp 85% para PIC &gt;20mmHg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" y="346557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" y="3465576"/>
            <a:ext cx="54864" cy="10972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/>
          <p:nvPr/>
        </p:nvSpPr>
        <p:spPr>
          <a:xfrm>
            <a:off x="265176" y="350215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Mongodi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 Care 2016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5176" y="38496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 desmame  n=110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5176" y="408736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&gt;17: Sn 80%, Sp 83% falha desmame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36392" y="346557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36392" y="3465576"/>
            <a:ext cx="54864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3264408" y="350215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Randolph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1996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64408" y="38496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por USG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64408" y="408736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Reduz complicações 57% vs landmark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35624" y="3465576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35624" y="3465576"/>
            <a:ext cx="54864" cy="109728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350215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2010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38496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Toracocentese USG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408736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PTX iatrogênico 18%→3%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7160" y="4672584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7160" y="4672584"/>
            <a:ext cx="54864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265176" y="470916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Perera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 Med 2010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5176" y="505663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Protocol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65176" y="529437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Diagnóstico choque &lt;5min sistemático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136392" y="4672584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136392" y="4672584"/>
            <a:ext cx="54864" cy="109728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57" name="Text 55"/>
          <p:cNvSpPr/>
          <p:nvPr/>
        </p:nvSpPr>
        <p:spPr>
          <a:xfrm>
            <a:off x="3264408" y="470916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Bouhemad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2010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64408" y="505663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 Score SDRA n=40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264408" y="529437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Prediz recrutabilidade alveolar r=0,91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35624" y="4672584"/>
            <a:ext cx="2871216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35624" y="4672584"/>
            <a:ext cx="54864" cy="109728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62" name="Text 60"/>
          <p:cNvSpPr/>
          <p:nvPr/>
        </p:nvSpPr>
        <p:spPr>
          <a:xfrm>
            <a:off x="6263640" y="470916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Netherton et al.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EM 2019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63640" y="505663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mortalidade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63640" y="529437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POCUS reduz mortalidade trauma RR 0,65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 PROTOCOLO CAUSE — PCR / PARADA CARDIORRESPIRATÓRIA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741664" cy="438912"/>
          </a:xfrm>
          <a:prstGeom prst="rect">
            <a:avLst/>
          </a:prstGeom>
          <a:solidFill>
            <a:srgbClr val="1A000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95097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JANELA &lt; 10 SEGUNDOS durante pausa do ritmo  |  Sonda posicionada ANTES da pausa (subxifoide, gel aplicado)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408176"/>
            <a:ext cx="1664208" cy="3291840"/>
          </a:xfrm>
          <a:prstGeom prst="rect">
            <a:avLst/>
          </a:prstGeom>
          <a:solidFill>
            <a:srgbClr val="15001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08176"/>
            <a:ext cx="1664208" cy="512064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4081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" y="144475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TAMPONADE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1762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Subxifoide: derrame volumoso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colapso VD diastólico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149961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23697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Pericardiocentese emergencial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56816" y="1408176"/>
            <a:ext cx="1664208" cy="3291840"/>
          </a:xfrm>
          <a:prstGeom prst="rect">
            <a:avLst/>
          </a:prstGeom>
          <a:solidFill>
            <a:srgbClr val="15001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56816" y="1408176"/>
            <a:ext cx="1664208" cy="5120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956816" y="14081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32304" y="144475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9968" y="19751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29968" y="21762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refratária sem causa aparente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&lt; 32°C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29968" y="2962656"/>
            <a:ext cx="149961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29968" y="323697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Reaquecimento ativo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se disponível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12464" y="1408176"/>
            <a:ext cx="1664208" cy="3291840"/>
          </a:xfrm>
          <a:prstGeom prst="rect">
            <a:avLst/>
          </a:prstGeom>
          <a:solidFill>
            <a:srgbClr val="15001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1408176"/>
            <a:ext cx="1664208" cy="51206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14081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87952" y="144475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(PTX Hipertensivo)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85616" y="19751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85616" y="21762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ausência bilateral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sliding + VCI distendida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85616" y="2962656"/>
            <a:ext cx="149961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85616" y="323697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Agulha 2° EIC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dreno torácico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68112" y="1408176"/>
            <a:ext cx="1664208" cy="3291840"/>
          </a:xfrm>
          <a:prstGeom prst="rect">
            <a:avLst/>
          </a:prstGeom>
          <a:solidFill>
            <a:srgbClr val="15001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68112" y="1408176"/>
            <a:ext cx="1664208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5468112" y="14081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943600" y="144475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41264" y="19751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41264" y="21762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hiperdinâmico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'kissing walls' + VCI colabada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41264" y="2962656"/>
            <a:ext cx="149961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41264" y="323697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agressivo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Identif. fonte hemorragia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1408176"/>
            <a:ext cx="1664208" cy="3291840"/>
          </a:xfrm>
          <a:prstGeom prst="rect">
            <a:avLst/>
          </a:prstGeom>
          <a:solidFill>
            <a:srgbClr val="15001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23760" y="1408176"/>
            <a:ext cx="1664208" cy="5120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14081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E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699248" y="144475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EMBOLISM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(TEP Maciço)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96912" y="19751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96912" y="21762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dilatado + McConnell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A4C: VD &gt; 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96912" y="2962656"/>
            <a:ext cx="149961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96912" y="323697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Fibrinólise empírica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Alteplase 50mg bolus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1168" y="4736592"/>
            <a:ext cx="8741664" cy="274320"/>
          </a:xfrm>
          <a:prstGeom prst="rect">
            <a:avLst/>
          </a:prstGeom>
          <a:solidFill>
            <a:srgbClr val="1A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7640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Breitkreutz et al. Resuscitation 2010: CAUSE altera diagnóstico em 58% das PCR — melhora ROSC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CHECKLISTS RÁPIDOS — POR CENÁRIO CLÍNICO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 dos protocolos POCUS na beira do leito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852928" cy="1792224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85292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DISPNEIA / IRA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Pulmão ant. bilateral → A ou B? Sliding?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Pulmão post./lat. → Derrame? Consolidação?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Coração → FE, derrame, VD?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VCI → Volemia?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Protocol → diagnóstico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078992"/>
            <a:ext cx="2852928" cy="1792224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78992"/>
            <a:ext cx="2852928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CHOQUE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73552" y="153619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PUMP: Coração → Tamponamento? FE? VD?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TANK: VCI → Colabada ou distendida?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TANK: Pleura → PTX? Hemotórax? B-lines?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PIPES: Aorta &gt;3cm? TVP?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RUSH → tipo de choque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078992"/>
            <a:ext cx="2852928" cy="1792224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78992"/>
            <a:ext cx="2852928" cy="3840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TRAUMA eFAST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54496" y="153619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Morrison + Esplenorrenal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Pelve transverso + longitudinal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Pericárdio subxifoide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Pleura bilateral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Pulmão anterior (LINEAR) → PTX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Instável+FAST+: CIRURGIA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2980944"/>
            <a:ext cx="2852928" cy="1792224"/>
          </a:xfrm>
          <a:prstGeom prst="rect">
            <a:avLst/>
          </a:prstGeom>
          <a:solidFill>
            <a:srgbClr val="EDE0F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980944"/>
            <a:ext cx="2852928" cy="384048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PCR — CAUSE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" y="343814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Sonda pronta ANTES da pausa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C: Tamponamento?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A: Hipotermia?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U: PTX bilateral?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S: Kissing walls?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E: VD dilatado/McConnell?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2980944"/>
            <a:ext cx="2852928" cy="1792224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980944"/>
            <a:ext cx="2852928" cy="38404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PIC ELEVADA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73552" y="343814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→ pálpebra fechada, sem pressão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ONSD 3mm post. ao globo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&gt;5.8mm: PIC &gt;20mmHg → ALARME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 urgente + manitol + neurocirurgia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 CONTRAINDICADA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2980944"/>
            <a:ext cx="2852928" cy="1792224"/>
          </a:xfrm>
          <a:prstGeom prst="rect">
            <a:avLst/>
          </a:prstGeom>
          <a:solidFill>
            <a:srgbClr val="CFFAFE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980944"/>
            <a:ext cx="2852928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ABDOME / SEPSE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54496" y="343814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Vesícula → parede, cálculo, Murphy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Rins → hidronefrose? Cálculo?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Aorta → AAA? Dissecção?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Líquido livre → peritonite?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Pleura → derrame parapneumônico?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PONTOS-CHAVE PARA A PROVA TEMI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cardinais de alta incidência na Prova de Título de Terapia Intensiva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54864" cy="54864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Seashore 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115568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Modo M: granulado = sliding PRESENTE = SEM PTX local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078992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078992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115568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Modo M: só linhas = AUSÊNCIA sliding = PTX confirmado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1700784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700784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73736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Transição seashore↔barcode = PATOGNOMÔNICO de PTX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700784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700784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&gt;10mm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73736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 &lt;30% — disfunção grave — inotrópico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2322576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322576"/>
            <a:ext cx="54864" cy="54864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McConnell Sign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235915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Acinesia p.livre VD + ápice hiperd. = TEP (Sp 94%)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2322576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322576"/>
            <a:ext cx="54864" cy="548640"/>
          </a:xfrm>
          <a:prstGeom prst="rect">
            <a:avLst/>
          </a:prstGeom>
          <a:solidFill>
            <a:srgbClr val="3D005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Septo em 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35915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Sobrecarga pressão VD — TEP, HTAP, PEEP elevado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" y="2944368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2944368"/>
            <a:ext cx="54864" cy="54864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&lt;1.5cm + colapso &gt;50%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2980944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Hipovolemia responsiva — PVC &lt;5mmHg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2944368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2944368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809744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&gt;2.1cm + colapso &lt;50%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2980944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Congestão/IC direita — NÃO responsivo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3566160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566160"/>
            <a:ext cx="54864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Broncograma aéreo dinâmico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94560" y="3602736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PNEUMONIA (≠ atelectasia por reabsorção)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3566160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81728" y="3566160"/>
            <a:ext cx="54864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3" name="Text 41"/>
          <p:cNvSpPr/>
          <p:nvPr/>
        </p:nvSpPr>
        <p:spPr>
          <a:xfrm>
            <a:off x="4809744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ONSD &gt;5.8mm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3602736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 &gt;20mmHg → medida 3mm post. ao globo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1168" y="4187952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01168" y="4187952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Morrison FAST (+)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94560" y="4224528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Instável → laparotomia | Estável → TC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81728" y="4187952"/>
            <a:ext cx="4315968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4187952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4809744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 Score &gt;17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4224528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Prediz falha de desmame de VM (Sn 80%, Sp 83%)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Text 52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PERGUNTAS FREQUENTES — POCUS NA UTI/EMERGÊNCIA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comuns em plantão e casos clínicos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078992"/>
            <a:ext cx="54864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124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VCI normal exclui choque?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" y="14813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A VCI tem limitações importantes: em VM com esforço espontâneo, obesidade (IMC&gt;35), hipertensão intra-abdominal e PEEP &gt;12. Associar ao VTI, PLR e contexto clínico.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7899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81728" y="1078992"/>
            <a:ext cx="54864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1124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FAST negativo = sem lesão?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9744" y="14813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Sn 85-90%. Necessário ≥150-200mL para detectar. Hemoperitônio retroperitoneal pode não ser detectado. Repetir se instável!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35915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35915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" y="2359152"/>
            <a:ext cx="54864" cy="117043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" y="2404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EPSS pode ser feito sem eco formal?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" y="276148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EPSS é uma medida Modo M simples, validada como substituto da FE na emergência. Não requer treinamento avançado em ecocardiografia.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235915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35915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1728" y="2359152"/>
            <a:ext cx="54864" cy="1170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9744" y="2404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Quando usar ONSD em vez de TC?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9744" y="276148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pacientes instáveis onde TC não é segura ou disponível imediatamente. ONSD auxilia triagem e decisão sobre manitol antes da TC.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363931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63931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" y="3639312"/>
            <a:ext cx="54864" cy="1170432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3685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Quantas horas de treinamento para TVP?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" y="40416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horas de treinamento já propiciam acurácia equivalente ao vascular para TVP proximal (Panebianco, Emerg Med J 2013).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3639312"/>
            <a:ext cx="431596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639312"/>
            <a:ext cx="4315968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3639312"/>
            <a:ext cx="54864" cy="11704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9744" y="3685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B-lines unilaterais indicam EAP?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9744" y="40416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EAP = bilateral. Unilateral = pneumonia, contusão, obstrução brônquica. Avaliar simetria e contexto clínico (BLUE Protocol).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 |  CRM 16587 CREMEC  |  Hospital Regional Norte &amp; Santa Casa Sobral-CE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910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8072"/>
          </a:xfrm>
          <a:prstGeom prst="rect">
            <a:avLst/>
          </a:prstGeom>
          <a:solidFill>
            <a:srgbClr val="0D2B5A"/>
          </a:solidFill>
          <a:ln/>
        </p:spPr>
      </p:sp>
      <p:sp>
        <p:nvSpPr>
          <p:cNvPr id="3" name="Shape 1"/>
          <p:cNvSpPr/>
          <p:nvPr/>
        </p:nvSpPr>
        <p:spPr>
          <a:xfrm>
            <a:off x="3456432" y="0"/>
            <a:ext cx="36576" cy="5148072"/>
          </a:xfrm>
          <a:prstGeom prst="rect">
            <a:avLst/>
          </a:prstGeom>
          <a:solidFill>
            <a:srgbClr val="3B9D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OBRIGADO!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97480" cy="36576"/>
          </a:xfrm>
          <a:prstGeom prst="rect">
            <a:avLst/>
          </a:prstGeom>
          <a:solidFill>
            <a:srgbClr val="3B9DD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clínicos?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365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9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PRINCIPAIS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8046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Lichtenstein &amp; Mezière — Chest 2008 (BLUE)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2070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Rozycki et al. — JACS 1996 (FAST)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60934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Jensen et al. — Anesth Analg 2004 (FATE)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0116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McConnell et al. — NEJM 1996 (TEP sign)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Perera et al. — Emerg Med 2010 (RUSH)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2816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Bhatt et al. — Ann Emerg Med 2020 (TVP)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32186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Dubourg et al. — ICM 2011 (ONSD)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36210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Breitkreutz et al. — Resuscitation 2010 (CAUSE)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4023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Mongodi et al. — Crit Care 2016 (LUS Score)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44256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Randolph et al. — CCM 1996 (CVC guiado)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4617720"/>
            <a:ext cx="5120640" cy="27432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46268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Aldenir Rocha — CRM 16587 CREMEC | Mestre em Ciências da Saúde UFC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48463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Regional Norte | Santa Casa de Misericórdia de Sobral — 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USG POCUS — Emergência &amp; UTI | Aula para Residentes</dc:title>
  <dc:subject>PptxGenJS Presentation</dc:subject>
  <dc:creator>Dr. Aldenir Rocha</dc:creator>
  <cp:lastModifiedBy>Dr. Aldenir Rocha</cp:lastModifiedBy>
  <cp:revision>1</cp:revision>
  <dcterms:created xsi:type="dcterms:W3CDTF">2026-04-19T05:24:51Z</dcterms:created>
  <dcterms:modified xsi:type="dcterms:W3CDTF">2026-04-19T05:24:51Z</dcterms:modified>
</cp:coreProperties>
</file>